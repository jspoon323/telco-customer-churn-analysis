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1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777240"/>
            <a:ext cx="822960" cy="822960"/>
          </a:xfrm>
          <a:prstGeom prst="ellipse">
            <a:avLst/>
          </a:prstGeom>
          <a:solidFill>
            <a:srgbClr val="12B67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7772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1488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Churn &amp; Retention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841248" y="30632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FE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Analysis Walkthrough  ·  Google BigQuery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41248" y="4160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FE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Analyst: </a:t>
            </a:r>
            <a:pPr indent="0" marL="0">
              <a:buNone/>
            </a:pPr>
            <a:r>
              <a:rPr lang="en-US" sz="1400" dirty="0">
                <a:solidFill>
                  <a:srgbClr val="CFE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Spoon      </a:t>
            </a:r>
            <a:pPr indent="0" marL="0">
              <a:buNone/>
            </a:pPr>
            <a:r>
              <a:rPr lang="en-US" sz="1400" b="1" dirty="0">
                <a:solidFill>
                  <a:srgbClr val="CFE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Dataset: </a:t>
            </a:r>
            <a:pPr indent="0" marL="0">
              <a:buNone/>
            </a:pPr>
            <a:r>
              <a:rPr lang="en-US" sz="1400" dirty="0">
                <a:solidFill>
                  <a:srgbClr val="CFE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Telco Customer Churn (7,043 customers, 21 fields)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41248" y="4526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FE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Tools: </a:t>
            </a:r>
            <a:pPr indent="0" marL="0">
              <a:buNone/>
            </a:pPr>
            <a:r>
              <a:rPr lang="en-US" sz="1400" dirty="0">
                <a:solidFill>
                  <a:srgbClr val="CFE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BigQuery (SQL), Excel, dashboard, Claude (AI assistant)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52578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FA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queries · profiling &amp; data quality, then six KPI queries that feed the dashboard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21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12B6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</a:t>
            </a:r>
            <a:endParaRPr lang="en-US" sz="6600" dirty="0"/>
          </a:p>
        </p:txBody>
      </p:sp>
      <p:sp>
        <p:nvSpPr>
          <p:cNvPr id="3" name="Text 1"/>
          <p:cNvSpPr txBox="1"/>
          <p:nvPr/>
        </p:nvSpPr>
        <p:spPr>
          <a:xfrm>
            <a:off x="841248" y="31089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Profiling &amp; Data-Quality Checks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859536" y="397764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E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the data is trustworthy before analyzing it: grain, target balance, and the one real defect.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12B67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572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8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PROFILING · STEP 1 OF 5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713232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there duplicate customers?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1336862" y="1472184"/>
            <a:ext cx="9515228" cy="3319272"/>
          </a:xfrm>
          <a:prstGeom prst="roundRect">
            <a:avLst>
              <a:gd name="adj" fmla="val 1653"/>
            </a:avLst>
          </a:prstGeom>
          <a:solidFill>
            <a:srgbClr val="FFFFFF"/>
          </a:solidFill>
          <a:ln w="12700">
            <a:solidFill>
              <a:srgbClr val="D9DEE5"/>
            </a:solidFill>
            <a:prstDash val="solid"/>
          </a:ln>
          <a:effectLst>
            <a:outerShdw sx="100000" sy="100000" kx="0" ky="0" algn="bl" rotWithShape="0" blurRad="114300" dist="38100" dir="5400000">
              <a:srgbClr val="9AA5B1">
                <a:alpha val="35000"/>
              </a:srgbClr>
            </a:outerShdw>
          </a:effectLst>
        </p:spPr>
      </p:sp>
      <p:pic>
        <p:nvPicPr>
          <p:cNvPr id="7" name="Image 0" descr="sql_shots/image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9158" y="1554480"/>
            <a:ext cx="9350636" cy="31546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40080" y="5029200"/>
            <a:ext cx="10908792" cy="1417320"/>
          </a:xfrm>
          <a:prstGeom prst="roundRect">
            <a:avLst>
              <a:gd name="adj" fmla="val 5161"/>
            </a:avLst>
          </a:prstGeom>
          <a:solidFill>
            <a:srgbClr val="EAF7F1"/>
          </a:solidFill>
          <a:ln w="12700">
            <a:solidFill>
              <a:srgbClr val="CDEBD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14400" y="517550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8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5449824"/>
            <a:ext cx="10378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COUNT(*) equals COUNT(DISTINCT customerID): both return 7,043. The grain is confirmed as one row per customer, with no duplicate keys to inflate the counts.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12B67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572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8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PROFILING · STEP 2 OF 5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713232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share of customers churned?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2490527" y="1472184"/>
            <a:ext cx="7207898" cy="3319272"/>
          </a:xfrm>
          <a:prstGeom prst="roundRect">
            <a:avLst>
              <a:gd name="adj" fmla="val 1653"/>
            </a:avLst>
          </a:prstGeom>
          <a:solidFill>
            <a:srgbClr val="FFFFFF"/>
          </a:solidFill>
          <a:ln w="12700">
            <a:solidFill>
              <a:srgbClr val="D9DEE5"/>
            </a:solidFill>
            <a:prstDash val="solid"/>
          </a:ln>
          <a:effectLst>
            <a:outerShdw sx="100000" sy="100000" kx="0" ky="0" algn="bl" rotWithShape="0" blurRad="114300" dist="38100" dir="5400000">
              <a:srgbClr val="9AA5B1">
                <a:alpha val="35000"/>
              </a:srgbClr>
            </a:outerShdw>
          </a:effectLst>
        </p:spPr>
      </p:sp>
      <p:pic>
        <p:nvPicPr>
          <p:cNvPr id="7" name="Image 0" descr="sql_shots/image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72823" y="1554480"/>
            <a:ext cx="7043306" cy="31546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40080" y="5029200"/>
            <a:ext cx="10908792" cy="1417320"/>
          </a:xfrm>
          <a:prstGeom prst="roundRect">
            <a:avLst>
              <a:gd name="adj" fmla="val 5161"/>
            </a:avLst>
          </a:prstGeom>
          <a:solidFill>
            <a:srgbClr val="EAF7F1"/>
          </a:solidFill>
          <a:ln w="12700">
            <a:solidFill>
              <a:srgbClr val="CDEBD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14400" y="517550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8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5449824"/>
            <a:ext cx="10378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1,869 of 7,043 customers churned (26.5%); 5,174 stayed (73.5%). This sets the headline denominator that every downstream KPI is measured against.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12B67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572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8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PROFILING · STEP 3 OF 5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713232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every customer billed accurately?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440761" y="1472184"/>
            <a:ext cx="5307430" cy="3319272"/>
          </a:xfrm>
          <a:prstGeom prst="roundRect">
            <a:avLst>
              <a:gd name="adj" fmla="val 1653"/>
            </a:avLst>
          </a:prstGeom>
          <a:solidFill>
            <a:srgbClr val="FFFFFF"/>
          </a:solidFill>
          <a:ln w="12700">
            <a:solidFill>
              <a:srgbClr val="D9DEE5"/>
            </a:solidFill>
            <a:prstDash val="solid"/>
          </a:ln>
          <a:effectLst>
            <a:outerShdw sx="100000" sy="100000" kx="0" ky="0" algn="bl" rotWithShape="0" blurRad="114300" dist="38100" dir="5400000">
              <a:srgbClr val="9AA5B1">
                <a:alpha val="35000"/>
              </a:srgbClr>
            </a:outerShdw>
          </a:effectLst>
        </p:spPr>
      </p:sp>
      <p:pic>
        <p:nvPicPr>
          <p:cNvPr id="7" name="Image 0" descr="sql_shots/image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23057" y="1554480"/>
            <a:ext cx="5142838" cy="31546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40080" y="5029200"/>
            <a:ext cx="10908792" cy="1417320"/>
          </a:xfrm>
          <a:prstGeom prst="roundRect">
            <a:avLst>
              <a:gd name="adj" fmla="val 5161"/>
            </a:avLst>
          </a:prstGeom>
          <a:solidFill>
            <a:srgbClr val="EAF7F1"/>
          </a:solidFill>
          <a:ln w="12700">
            <a:solidFill>
              <a:srgbClr val="CDEBD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14400" y="517550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8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5449824"/>
            <a:ext cx="10378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SAFE_CAST surfaces 11 rows where TotalCharges is blank, and all 11 have tenure = 0 (new, never billed). SAFE_CAST returns NULL on bad values instead of erroring the way CAST does.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12B67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572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8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PROFILING · STEP 4 OF 5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713232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there NULLs in the key columns?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1694822" y="1472184"/>
            <a:ext cx="8799309" cy="3319272"/>
          </a:xfrm>
          <a:prstGeom prst="roundRect">
            <a:avLst>
              <a:gd name="adj" fmla="val 1653"/>
            </a:avLst>
          </a:prstGeom>
          <a:solidFill>
            <a:srgbClr val="FFFFFF"/>
          </a:solidFill>
          <a:ln w="12700">
            <a:solidFill>
              <a:srgbClr val="D9DEE5"/>
            </a:solidFill>
            <a:prstDash val="solid"/>
          </a:ln>
          <a:effectLst>
            <a:outerShdw sx="100000" sy="100000" kx="0" ky="0" algn="bl" rotWithShape="0" blurRad="114300" dist="38100" dir="5400000">
              <a:srgbClr val="9AA5B1">
                <a:alpha val="35000"/>
              </a:srgbClr>
            </a:outerShdw>
          </a:effectLst>
        </p:spPr>
      </p:sp>
      <p:pic>
        <p:nvPicPr>
          <p:cNvPr id="7" name="Image 0" descr="sql_shots/image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77118" y="1554480"/>
            <a:ext cx="8634717" cy="31546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40080" y="5029200"/>
            <a:ext cx="10908792" cy="1417320"/>
          </a:xfrm>
          <a:prstGeom prst="roundRect">
            <a:avLst>
              <a:gd name="adj" fmla="val 5161"/>
            </a:avLst>
          </a:prstGeom>
          <a:solidFill>
            <a:srgbClr val="EAF7F1"/>
          </a:solidFill>
          <a:ln w="12700">
            <a:solidFill>
              <a:srgbClr val="CDEBD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14400" y="517550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8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5449824"/>
            <a:ext cx="10378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gap is those same 11 blank TotalCharges. customerID, Contract, and MonthlyCharges are fully populated, so the revenue fields can be trusted.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12B67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572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8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PROFILING · STEP 5 OF 5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713232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categories hold only expected values? (query)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8156" y="1472184"/>
            <a:ext cx="4872640" cy="3319272"/>
          </a:xfrm>
          <a:prstGeom prst="roundRect">
            <a:avLst>
              <a:gd name="adj" fmla="val 1653"/>
            </a:avLst>
          </a:prstGeom>
          <a:solidFill>
            <a:srgbClr val="FFFFFF"/>
          </a:solidFill>
          <a:ln w="12700">
            <a:solidFill>
              <a:srgbClr val="D9DEE5"/>
            </a:solidFill>
            <a:prstDash val="solid"/>
          </a:ln>
          <a:effectLst>
            <a:outerShdw sx="100000" sy="100000" kx="0" ky="0" algn="bl" rotWithShape="0" blurRad="114300" dist="38100" dir="5400000">
              <a:srgbClr val="9AA5B1">
                <a:alpha val="35000"/>
              </a:srgbClr>
            </a:outerShdw>
          </a:effectLst>
        </p:spPr>
      </p:sp>
      <p:pic>
        <p:nvPicPr>
          <p:cNvPr id="7" name="Image 0" descr="sql_shots/image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40452" y="1554480"/>
            <a:ext cx="4708048" cy="31546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40080" y="5029200"/>
            <a:ext cx="10908792" cy="1417320"/>
          </a:xfrm>
          <a:prstGeom prst="roundRect">
            <a:avLst>
              <a:gd name="adj" fmla="val 5161"/>
            </a:avLst>
          </a:prstGeom>
          <a:solidFill>
            <a:srgbClr val="EAF7F1"/>
          </a:solidFill>
          <a:ln w="12700">
            <a:solidFill>
              <a:srgbClr val="CDEBD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14400" y="517550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8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5449824"/>
            <a:ext cx="10378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UNION ALL query profiles Contract, InternetService, and PaymentMethod in one pass, listing every distinct value and its count.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12B67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572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8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PROFILING · STEP 5 OF 5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713232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value counts (result)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197313" y="1472184"/>
            <a:ext cx="5794326" cy="3319272"/>
          </a:xfrm>
          <a:prstGeom prst="roundRect">
            <a:avLst>
              <a:gd name="adj" fmla="val 1653"/>
            </a:avLst>
          </a:prstGeom>
          <a:solidFill>
            <a:srgbClr val="FFFFFF"/>
          </a:solidFill>
          <a:ln w="12700">
            <a:solidFill>
              <a:srgbClr val="D9DEE5"/>
            </a:solidFill>
            <a:prstDash val="solid"/>
          </a:ln>
          <a:effectLst>
            <a:outerShdw sx="100000" sy="100000" kx="0" ky="0" algn="bl" rotWithShape="0" blurRad="114300" dist="38100" dir="5400000">
              <a:srgbClr val="9AA5B1">
                <a:alpha val="35000"/>
              </a:srgbClr>
            </a:outerShdw>
          </a:effectLst>
        </p:spPr>
      </p:sp>
      <p:pic>
        <p:nvPicPr>
          <p:cNvPr id="7" name="Image 0" descr="sql_shots/image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79609" y="1554480"/>
            <a:ext cx="5629734" cy="31546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40080" y="5029200"/>
            <a:ext cx="10908792" cy="1417320"/>
          </a:xfrm>
          <a:prstGeom prst="roundRect">
            <a:avLst>
              <a:gd name="adj" fmla="val 5161"/>
            </a:avLst>
          </a:prstGeom>
          <a:solidFill>
            <a:srgbClr val="EAF7F1"/>
          </a:solidFill>
          <a:ln w="12700">
            <a:solidFill>
              <a:srgbClr val="CDEBD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14400" y="517550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8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5449824"/>
            <a:ext cx="10378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contract types, three internet types, four payment methods. Every group sums back to 7,043, confirming no stray, mislabeled, or blank categories.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21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12B6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6600" dirty="0"/>
          </a:p>
        </p:txBody>
      </p:sp>
      <p:sp>
        <p:nvSpPr>
          <p:cNvPr id="3" name="Text 1"/>
          <p:cNvSpPr txBox="1"/>
          <p:nvPr/>
        </p:nvSpPr>
        <p:spPr>
          <a:xfrm>
            <a:off x="841248" y="31089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Queries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859536" y="397764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E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queries that feed the dashboard. Each answers one business question and reads from the cleaned data.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12B67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572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8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713232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big is churn, and what is it costing?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2633847" y="1472184"/>
            <a:ext cx="6921257" cy="3319272"/>
          </a:xfrm>
          <a:prstGeom prst="roundRect">
            <a:avLst>
              <a:gd name="adj" fmla="val 1653"/>
            </a:avLst>
          </a:prstGeom>
          <a:solidFill>
            <a:srgbClr val="FFFFFF"/>
          </a:solidFill>
          <a:ln w="12700">
            <a:solidFill>
              <a:srgbClr val="D9DEE5"/>
            </a:solidFill>
            <a:prstDash val="solid"/>
          </a:ln>
          <a:effectLst>
            <a:outerShdw sx="100000" sy="100000" kx="0" ky="0" algn="bl" rotWithShape="0" blurRad="114300" dist="38100" dir="5400000">
              <a:srgbClr val="9AA5B1">
                <a:alpha val="35000"/>
              </a:srgbClr>
            </a:outerShdw>
          </a:effectLst>
        </p:spPr>
      </p:sp>
      <p:pic>
        <p:nvPicPr>
          <p:cNvPr id="7" name="Image 0" descr="sql_shots/image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16143" y="1554480"/>
            <a:ext cx="6756665" cy="31546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40080" y="5029200"/>
            <a:ext cx="10908792" cy="1417320"/>
          </a:xfrm>
          <a:prstGeom prst="roundRect">
            <a:avLst>
              <a:gd name="adj" fmla="val 5161"/>
            </a:avLst>
          </a:prstGeom>
          <a:solidFill>
            <a:srgbClr val="EAF7F1"/>
          </a:solidFill>
          <a:ln w="12700">
            <a:solidFill>
              <a:srgbClr val="CDEBD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14400" y="517550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8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5449824"/>
            <a:ext cx="10378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26.5% churn equals 1,869 customers, which is $139,131 per month and $1,669,570 per year in recurring revenue at risk.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12B67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572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K2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8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2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713232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contract type drive churn?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2760004" y="1472184"/>
            <a:ext cx="6668943" cy="3319272"/>
          </a:xfrm>
          <a:prstGeom prst="roundRect">
            <a:avLst>
              <a:gd name="adj" fmla="val 1653"/>
            </a:avLst>
          </a:prstGeom>
          <a:solidFill>
            <a:srgbClr val="FFFFFF"/>
          </a:solidFill>
          <a:ln w="12700">
            <a:solidFill>
              <a:srgbClr val="D9DEE5"/>
            </a:solidFill>
            <a:prstDash val="solid"/>
          </a:ln>
          <a:effectLst>
            <a:outerShdw sx="100000" sy="100000" kx="0" ky="0" algn="bl" rotWithShape="0" blurRad="114300" dist="38100" dir="5400000">
              <a:srgbClr val="9AA5B1">
                <a:alpha val="35000"/>
              </a:srgbClr>
            </a:outerShdw>
          </a:effectLst>
        </p:spPr>
      </p:sp>
      <p:pic>
        <p:nvPicPr>
          <p:cNvPr id="7" name="Image 0" descr="sql_shots/image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42300" y="1554480"/>
            <a:ext cx="6504351" cy="31546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40080" y="5029200"/>
            <a:ext cx="10908792" cy="1417320"/>
          </a:xfrm>
          <a:prstGeom prst="roundRect">
            <a:avLst>
              <a:gd name="adj" fmla="val 5161"/>
            </a:avLst>
          </a:prstGeom>
          <a:solidFill>
            <a:srgbClr val="EAF7F1"/>
          </a:solidFill>
          <a:ln w="12700">
            <a:solidFill>
              <a:srgbClr val="CDEBD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14400" y="517550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8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5449824"/>
            <a:ext cx="10378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Month-to-month churns at 42.7% versus 2.8% for two-year, roughly 15 times higher. Contract type is the single strongest churn driver in the data.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12B67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572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K3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8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3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713232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there a tenure lifecycle to churn?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2624082" y="1472184"/>
            <a:ext cx="6940788" cy="3319272"/>
          </a:xfrm>
          <a:prstGeom prst="roundRect">
            <a:avLst>
              <a:gd name="adj" fmla="val 1653"/>
            </a:avLst>
          </a:prstGeom>
          <a:solidFill>
            <a:srgbClr val="FFFFFF"/>
          </a:solidFill>
          <a:ln w="12700">
            <a:solidFill>
              <a:srgbClr val="D9DEE5"/>
            </a:solidFill>
            <a:prstDash val="solid"/>
          </a:ln>
          <a:effectLst>
            <a:outerShdw sx="100000" sy="100000" kx="0" ky="0" algn="bl" rotWithShape="0" blurRad="114300" dist="38100" dir="5400000">
              <a:srgbClr val="9AA5B1">
                <a:alpha val="35000"/>
              </a:srgbClr>
            </a:outerShdw>
          </a:effectLst>
        </p:spPr>
      </p:sp>
      <p:pic>
        <p:nvPicPr>
          <p:cNvPr id="7" name="Image 0" descr="sql_shots/image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06378" y="1554480"/>
            <a:ext cx="6776196" cy="31546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40080" y="5029200"/>
            <a:ext cx="10908792" cy="1417320"/>
          </a:xfrm>
          <a:prstGeom prst="roundRect">
            <a:avLst>
              <a:gd name="adj" fmla="val 5161"/>
            </a:avLst>
          </a:prstGeom>
          <a:solidFill>
            <a:srgbClr val="EAF7F1"/>
          </a:solidFill>
          <a:ln w="12700">
            <a:solidFill>
              <a:srgbClr val="CDEBD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14400" y="517550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8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5449824"/>
            <a:ext cx="10378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First-year churn is 47.4%, falling to 9.5% by year four and beyond. The retention battle is won or lost in the first 12 months.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12B67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572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K4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8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4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713232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internet service type affect churn?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2800625" y="1472184"/>
            <a:ext cx="6587702" cy="3319272"/>
          </a:xfrm>
          <a:prstGeom prst="roundRect">
            <a:avLst>
              <a:gd name="adj" fmla="val 1653"/>
            </a:avLst>
          </a:prstGeom>
          <a:solidFill>
            <a:srgbClr val="FFFFFF"/>
          </a:solidFill>
          <a:ln w="12700">
            <a:solidFill>
              <a:srgbClr val="D9DEE5"/>
            </a:solidFill>
            <a:prstDash val="solid"/>
          </a:ln>
          <a:effectLst>
            <a:outerShdw sx="100000" sy="100000" kx="0" ky="0" algn="bl" rotWithShape="0" blurRad="114300" dist="38100" dir="5400000">
              <a:srgbClr val="9AA5B1">
                <a:alpha val="35000"/>
              </a:srgbClr>
            </a:outerShdw>
          </a:effectLst>
        </p:spPr>
      </p:sp>
      <p:pic>
        <p:nvPicPr>
          <p:cNvPr id="7" name="Image 0" descr="sql_shots/image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82921" y="1554480"/>
            <a:ext cx="6423110" cy="31546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40080" y="5029200"/>
            <a:ext cx="10908792" cy="1417320"/>
          </a:xfrm>
          <a:prstGeom prst="roundRect">
            <a:avLst>
              <a:gd name="adj" fmla="val 5161"/>
            </a:avLst>
          </a:prstGeom>
          <a:solidFill>
            <a:srgbClr val="EAF7F1"/>
          </a:solidFill>
          <a:ln w="12700">
            <a:solidFill>
              <a:srgbClr val="CDEBD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14400" y="517550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8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5449824"/>
            <a:ext cx="10378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Fiber optic churns at 41.9%, more than double DSL (19.0%). The premium product retains worst, a value-perception red flag.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12B67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572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K5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8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5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713232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payment method signal churn?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2456060" y="1472184"/>
            <a:ext cx="7276832" cy="3319272"/>
          </a:xfrm>
          <a:prstGeom prst="roundRect">
            <a:avLst>
              <a:gd name="adj" fmla="val 1653"/>
            </a:avLst>
          </a:prstGeom>
          <a:solidFill>
            <a:srgbClr val="FFFFFF"/>
          </a:solidFill>
          <a:ln w="12700">
            <a:solidFill>
              <a:srgbClr val="D9DEE5"/>
            </a:solidFill>
            <a:prstDash val="solid"/>
          </a:ln>
          <a:effectLst>
            <a:outerShdw sx="100000" sy="100000" kx="0" ky="0" algn="bl" rotWithShape="0" blurRad="114300" dist="38100" dir="5400000">
              <a:srgbClr val="9AA5B1">
                <a:alpha val="35000"/>
              </a:srgbClr>
            </a:outerShdw>
          </a:effectLst>
        </p:spPr>
      </p:sp>
      <p:pic>
        <p:nvPicPr>
          <p:cNvPr id="7" name="Image 0" descr="sql_shots/image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38356" y="1554480"/>
            <a:ext cx="7112240" cy="31546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40080" y="5029200"/>
            <a:ext cx="10908792" cy="1417320"/>
          </a:xfrm>
          <a:prstGeom prst="roundRect">
            <a:avLst>
              <a:gd name="adj" fmla="val 5161"/>
            </a:avLst>
          </a:prstGeom>
          <a:solidFill>
            <a:srgbClr val="EAF7F1"/>
          </a:solidFill>
          <a:ln w="12700">
            <a:solidFill>
              <a:srgbClr val="CDEBD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14400" y="517550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8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5449824"/>
            <a:ext cx="10378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 check churns at 45.3%, about 3 times either automatic method (15% to 17%). Auto-pay behaves as a retention mechanism, not just a billing choice.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12B67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572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K6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8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6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713232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package profile is highest risk?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402664" y="1472184"/>
            <a:ext cx="5383625" cy="3319272"/>
          </a:xfrm>
          <a:prstGeom prst="roundRect">
            <a:avLst>
              <a:gd name="adj" fmla="val 1653"/>
            </a:avLst>
          </a:prstGeom>
          <a:solidFill>
            <a:srgbClr val="FFFFFF"/>
          </a:solidFill>
          <a:ln w="12700">
            <a:solidFill>
              <a:srgbClr val="D9DEE5"/>
            </a:solidFill>
            <a:prstDash val="solid"/>
          </a:ln>
          <a:effectLst>
            <a:outerShdw sx="100000" sy="100000" kx="0" ky="0" algn="bl" rotWithShape="0" blurRad="114300" dist="38100" dir="5400000">
              <a:srgbClr val="9AA5B1">
                <a:alpha val="35000"/>
              </a:srgbClr>
            </a:outerShdw>
          </a:effectLst>
        </p:spPr>
      </p:sp>
      <p:pic>
        <p:nvPicPr>
          <p:cNvPr id="7" name="Image 0" descr="sql_shots/image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84960" y="1554480"/>
            <a:ext cx="5219033" cy="31546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40080" y="5029200"/>
            <a:ext cx="10908792" cy="1417320"/>
          </a:xfrm>
          <a:prstGeom prst="roundRect">
            <a:avLst>
              <a:gd name="adj" fmla="val 5161"/>
            </a:avLst>
          </a:prstGeom>
          <a:solidFill>
            <a:srgbClr val="EAF7F1"/>
          </a:solidFill>
          <a:ln w="12700">
            <a:solidFill>
              <a:srgbClr val="CDEBD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14400" y="517550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8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5449824"/>
            <a:ext cx="10378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Month-to-month + Fiber + Electronic check: 1,307 customers, 60.4% churn, $819,378 at risk, which is 49% of all at-risk revenue. This one segment is the bullseye.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E21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400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data says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822960" y="1554480"/>
            <a:ext cx="3383280" cy="1371600"/>
          </a:xfrm>
          <a:prstGeom prst="roundRect">
            <a:avLst>
              <a:gd name="adj" fmla="val 5333"/>
            </a:avLst>
          </a:prstGeom>
          <a:solidFill>
            <a:srgbClr val="16324F"/>
          </a:solidFill>
          <a:ln w="12700">
            <a:solidFill>
              <a:srgbClr val="2C517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2B6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26.5%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450592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FE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churn rate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480560" y="1554480"/>
            <a:ext cx="3383280" cy="1371600"/>
          </a:xfrm>
          <a:prstGeom prst="roundRect">
            <a:avLst>
              <a:gd name="adj" fmla="val 5333"/>
            </a:avLst>
          </a:prstGeom>
          <a:solidFill>
            <a:srgbClr val="16324F"/>
          </a:solidFill>
          <a:ln w="12700">
            <a:solidFill>
              <a:srgbClr val="2C517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480560" y="169164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2B6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$1.67M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4480560" y="2450592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FE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recurring revenue at risk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138160" y="1554480"/>
            <a:ext cx="3383280" cy="1371600"/>
          </a:xfrm>
          <a:prstGeom prst="roundRect">
            <a:avLst>
              <a:gd name="adj" fmla="val 5333"/>
            </a:avLst>
          </a:prstGeom>
          <a:solidFill>
            <a:srgbClr val="16324F"/>
          </a:solidFill>
          <a:ln w="12700">
            <a:solidFill>
              <a:srgbClr val="2C517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138160" y="169164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2B6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60.4%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8138160" y="2450592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FE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 in the top segment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3246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100" kern="0" dirty="0">
                <a:solidFill>
                  <a:srgbClr val="8FE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to act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868680" y="3611880"/>
            <a:ext cx="105156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month-to-month customers to annual contracts</a:t>
            </a:r>
            <a:endParaRPr lang="en-US" sz="1500" dirty="0"/>
          </a:p>
          <a:p>
            <a:pPr lvl="1"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CFE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largest lever; two-year contracts churn at just 2.8%.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 auto-pay enrollment, starting with electronic-check customers</a:t>
            </a:r>
            <a:endParaRPr lang="en-US" sz="1500" dirty="0"/>
          </a:p>
          <a:p>
            <a:pPr lvl="1"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CFE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 check churns at 3x the auto-pay rate.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first-year onboarding and retention program</a:t>
            </a:r>
            <a:endParaRPr lang="en-US" sz="1500" dirty="0"/>
          </a:p>
          <a:p>
            <a:pPr lvl="1" indent="0" marL="0">
              <a:buNone/>
            </a:pPr>
            <a:r>
              <a:rPr lang="en-US" sz="1300" dirty="0">
                <a:solidFill>
                  <a:srgbClr val="CFE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nearly half of all churn happens in the first 12 months.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2026-09-24T20:17:54Z</dcterms:created>
  <dcterms:modified xsi:type="dcterms:W3CDTF">2026-09-24T20:17:54Z</dcterms:modified>
</cp:coreProperties>
</file>